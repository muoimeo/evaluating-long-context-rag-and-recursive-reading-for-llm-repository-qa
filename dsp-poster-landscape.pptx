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5213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587E0C-A909-4B33-AAEC-C8FE2898D1D6}" v="2" dt="2021-09-27T10:48:11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-189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White" userId="85e06418-59bd-47e0-a045-7cb64a79f74f" providerId="ADAL" clId="{E4587E0C-A909-4B33-AAEC-C8FE2898D1D6}"/>
    <pc:docChg chg="modSld">
      <pc:chgData name="Jonathan White" userId="85e06418-59bd-47e0-a045-7cb64a79f74f" providerId="ADAL" clId="{E4587E0C-A909-4B33-AAEC-C8FE2898D1D6}" dt="2021-09-27T10:48:55.689" v="45" actId="1038"/>
      <pc:docMkLst>
        <pc:docMk/>
      </pc:docMkLst>
      <pc:sldChg chg="addSp modSp mod">
        <pc:chgData name="Jonathan White" userId="85e06418-59bd-47e0-a045-7cb64a79f74f" providerId="ADAL" clId="{E4587E0C-A909-4B33-AAEC-C8FE2898D1D6}" dt="2021-09-27T10:48:55.689" v="45" actId="1038"/>
        <pc:sldMkLst>
          <pc:docMk/>
          <pc:sldMk cId="3527676133" sldId="256"/>
        </pc:sldMkLst>
        <pc:spChg chg="mod">
          <ac:chgData name="Jonathan White" userId="85e06418-59bd-47e0-a045-7cb64a79f74f" providerId="ADAL" clId="{E4587E0C-A909-4B33-AAEC-C8FE2898D1D6}" dt="2021-09-27T10:48:55.689" v="45" actId="1038"/>
          <ac:spMkLst>
            <pc:docMk/>
            <pc:sldMk cId="3527676133" sldId="256"/>
            <ac:spMk id="10" creationId="{69BA5F24-787C-44AE-908F-B619A20C120C}"/>
          </ac:spMkLst>
        </pc:spChg>
        <pc:spChg chg="mod">
          <ac:chgData name="Jonathan White" userId="85e06418-59bd-47e0-a045-7cb64a79f74f" providerId="ADAL" clId="{E4587E0C-A909-4B33-AAEC-C8FE2898D1D6}" dt="2021-09-27T10:48:55.689" v="45" actId="1038"/>
          <ac:spMkLst>
            <pc:docMk/>
            <pc:sldMk cId="3527676133" sldId="256"/>
            <ac:spMk id="11" creationId="{8DC5D838-27F2-4B38-925B-C678D6555772}"/>
          </ac:spMkLst>
        </pc:spChg>
        <pc:spChg chg="mod">
          <ac:chgData name="Jonathan White" userId="85e06418-59bd-47e0-a045-7cb64a79f74f" providerId="ADAL" clId="{E4587E0C-A909-4B33-AAEC-C8FE2898D1D6}" dt="2021-09-27T10:48:55.689" v="45" actId="1038"/>
          <ac:spMkLst>
            <pc:docMk/>
            <pc:sldMk cId="3527676133" sldId="256"/>
            <ac:spMk id="12" creationId="{0EB231AF-9096-4646-81B1-3F5BBFA44D34}"/>
          </ac:spMkLst>
        </pc:spChg>
        <pc:spChg chg="mod">
          <ac:chgData name="Jonathan White" userId="85e06418-59bd-47e0-a045-7cb64a79f74f" providerId="ADAL" clId="{E4587E0C-A909-4B33-AAEC-C8FE2898D1D6}" dt="2021-09-27T10:48:43.194" v="28" actId="1076"/>
          <ac:spMkLst>
            <pc:docMk/>
            <pc:sldMk cId="3527676133" sldId="256"/>
            <ac:spMk id="13" creationId="{E2139A99-734D-492D-A2B4-ABC6F3A46758}"/>
          </ac:spMkLst>
        </pc:spChg>
        <pc:spChg chg="mod">
          <ac:chgData name="Jonathan White" userId="85e06418-59bd-47e0-a045-7cb64a79f74f" providerId="ADAL" clId="{E4587E0C-A909-4B33-AAEC-C8FE2898D1D6}" dt="2021-09-27T10:48:50.113" v="29" actId="1076"/>
          <ac:spMkLst>
            <pc:docMk/>
            <pc:sldMk cId="3527676133" sldId="256"/>
            <ac:spMk id="14" creationId="{29471E64-3B9C-4ECE-8C5C-623E3B8AA5F1}"/>
          </ac:spMkLst>
        </pc:spChg>
        <pc:spChg chg="mod">
          <ac:chgData name="Jonathan White" userId="85e06418-59bd-47e0-a045-7cb64a79f74f" providerId="ADAL" clId="{E4587E0C-A909-4B33-AAEC-C8FE2898D1D6}" dt="2021-09-27T10:48:30.624" v="27" actId="1076"/>
          <ac:spMkLst>
            <pc:docMk/>
            <pc:sldMk cId="3527676133" sldId="256"/>
            <ac:spMk id="19" creationId="{5B50A179-7B9A-4987-A17A-B2BA2FD57E22}"/>
          </ac:spMkLst>
        </pc:spChg>
        <pc:spChg chg="mod">
          <ac:chgData name="Jonathan White" userId="85e06418-59bd-47e0-a045-7cb64a79f74f" providerId="ADAL" clId="{E4587E0C-A909-4B33-AAEC-C8FE2898D1D6}" dt="2021-09-27T10:48:30.624" v="27" actId="1076"/>
          <ac:spMkLst>
            <pc:docMk/>
            <pc:sldMk cId="3527676133" sldId="256"/>
            <ac:spMk id="20" creationId="{D8D1FE95-39F4-4D38-B2EF-53232BFBC6D7}"/>
          </ac:spMkLst>
        </pc:spChg>
        <pc:spChg chg="add mod">
          <ac:chgData name="Jonathan White" userId="85e06418-59bd-47e0-a045-7cb64a79f74f" providerId="ADAL" clId="{E4587E0C-A909-4B33-AAEC-C8FE2898D1D6}" dt="2021-09-27T10:47:46.617" v="1" actId="1076"/>
          <ac:spMkLst>
            <pc:docMk/>
            <pc:sldMk cId="3527676133" sldId="256"/>
            <ac:spMk id="24" creationId="{CC7AA43E-169E-4584-BD61-1564EB886BA4}"/>
          </ac:spMkLst>
        </pc:spChg>
        <pc:spChg chg="add mod">
          <ac:chgData name="Jonathan White" userId="85e06418-59bd-47e0-a045-7cb64a79f74f" providerId="ADAL" clId="{E4587E0C-A909-4B33-AAEC-C8FE2898D1D6}" dt="2021-09-27T10:48:19.052" v="26" actId="1076"/>
          <ac:spMkLst>
            <pc:docMk/>
            <pc:sldMk cId="3527676133" sldId="256"/>
            <ac:spMk id="25" creationId="{4D204FDE-6B7C-493E-B33F-71E6F2C28506}"/>
          </ac:spMkLst>
        </pc:spChg>
        <pc:spChg chg="add mod">
          <ac:chgData name="Jonathan White" userId="85e06418-59bd-47e0-a045-7cb64a79f74f" providerId="ADAL" clId="{E4587E0C-A909-4B33-AAEC-C8FE2898D1D6}" dt="2021-09-27T10:48:19.052" v="26" actId="1076"/>
          <ac:spMkLst>
            <pc:docMk/>
            <pc:sldMk cId="3527676133" sldId="256"/>
            <ac:spMk id="26" creationId="{E7B24A34-D6DD-4B29-ACC3-A1E122AA648B}"/>
          </ac:spMkLst>
        </pc:spChg>
        <pc:picChg chg="add mod">
          <ac:chgData name="Jonathan White" userId="85e06418-59bd-47e0-a045-7cb64a79f74f" providerId="ADAL" clId="{E4587E0C-A909-4B33-AAEC-C8FE2898D1D6}" dt="2021-09-27T10:47:46.617" v="1" actId="1076"/>
          <ac:picMkLst>
            <pc:docMk/>
            <pc:sldMk cId="3527676133" sldId="256"/>
            <ac:picMk id="22" creationId="{3240336A-E74F-49A9-86DC-8EF5CEE144E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10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006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/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75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75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938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679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823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3630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003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33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129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19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08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615FF-C1AD-4C39-96B2-5B4D7F33D7E0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196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F3DE40-F1B5-4977-85B9-1AECC389B896}"/>
              </a:ext>
            </a:extLst>
          </p:cNvPr>
          <p:cNvSpPr txBox="1"/>
          <p:nvPr/>
        </p:nvSpPr>
        <p:spPr>
          <a:xfrm>
            <a:off x="6221124" y="0"/>
            <a:ext cx="105169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UFCFXK-30-3: Digital Systems Project</a:t>
            </a:r>
          </a:p>
        </p:txBody>
      </p:sp>
      <p:pic>
        <p:nvPicPr>
          <p:cNvPr id="8" name="Picture 6" descr="Welcome to UWE Bristol - University of the West of England ...">
            <a:extLst>
              <a:ext uri="{FF2B5EF4-FFF2-40B4-BE49-F238E27FC236}">
                <a16:creationId xmlns:a16="http://schemas.microsoft.com/office/drawing/2014/main" id="{AEE2C9CD-77BB-42E5-B50C-E5AFA99CC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7" y="0"/>
            <a:ext cx="5816411" cy="290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0246FA-7BB3-460A-BC34-659DB14AA1A0}"/>
              </a:ext>
            </a:extLst>
          </p:cNvPr>
          <p:cNvSpPr txBox="1"/>
          <p:nvPr/>
        </p:nvSpPr>
        <p:spPr>
          <a:xfrm>
            <a:off x="6221124" y="1218417"/>
            <a:ext cx="199764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Student name: Bui Vu Nhat Minh</a:t>
            </a:r>
          </a:p>
          <a:p>
            <a:r>
              <a:rPr lang="en-GB" sz="4000" dirty="0"/>
              <a:t>Project Title: </a:t>
            </a:r>
            <a:r>
              <a:rPr lang="en-US" sz="4000" dirty="0"/>
              <a:t>An AI Agent for Understanding Large Code Repositories and Technical Documents with Context-Rot Evaluation</a:t>
            </a:r>
            <a:endParaRPr lang="en-GB" sz="4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BA5F24-787C-44AE-908F-B619A20C120C}"/>
              </a:ext>
            </a:extLst>
          </p:cNvPr>
          <p:cNvSpPr txBox="1">
            <a:spLocks/>
          </p:cNvSpPr>
          <p:nvPr/>
        </p:nvSpPr>
        <p:spPr>
          <a:xfrm>
            <a:off x="344457" y="3628617"/>
            <a:ext cx="9752991" cy="389602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2000" b="1" dirty="0"/>
              <a:t>Abstract</a:t>
            </a:r>
            <a:r>
              <a:rPr lang="en-GB" sz="3000" b="1" dirty="0"/>
              <a:t>:</a:t>
            </a:r>
          </a:p>
          <a:p>
            <a:pPr algn="l">
              <a:lnSpc>
                <a:spcPct val="120000"/>
              </a:lnSpc>
            </a:pPr>
            <a:r>
              <a:rPr lang="en-US" sz="9600" dirty="0">
                <a:latin typeface="+mn-lt"/>
              </a:rPr>
              <a:t>This project builds an LLM-based agent that answers questions about large code repositories and long technical documents with evidence citations (file path + line range / document section). The work evaluates long-context degradation (“context rot”) by comparing three approaches: (1) single-pass long-context (stuffing/</a:t>
            </a:r>
            <a:r>
              <a:rPr lang="en-US" sz="9600" dirty="0" err="1">
                <a:latin typeface="+mn-lt"/>
              </a:rPr>
              <a:t>summarise</a:t>
            </a:r>
            <a:r>
              <a:rPr lang="en-US" sz="9600" dirty="0">
                <a:latin typeface="+mn-lt"/>
              </a:rPr>
              <a:t>-then-answer), (2) standard RAG (retrieve top-k chunks then answer), and (3) recursive reading (decompose the query, selectively read snippets via tools, and </a:t>
            </a:r>
            <a:r>
              <a:rPr lang="en-US" sz="9600" dirty="0" err="1">
                <a:latin typeface="+mn-lt"/>
              </a:rPr>
              <a:t>synthesise</a:t>
            </a:r>
            <a:r>
              <a:rPr lang="en-US" sz="9600" dirty="0">
                <a:latin typeface="+mn-lt"/>
              </a:rPr>
              <a:t> across multiple steps). Evaluation reports answer correctness, citation correctness, cost, and latency as corpus size and distractors increase.</a:t>
            </a:r>
            <a:endParaRPr lang="en-GB" sz="2400" dirty="0">
              <a:latin typeface="+mn-lt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EB231AF-9096-4646-81B1-3F5BBFA44D34}"/>
              </a:ext>
            </a:extLst>
          </p:cNvPr>
          <p:cNvSpPr txBox="1">
            <a:spLocks/>
          </p:cNvSpPr>
          <p:nvPr/>
        </p:nvSpPr>
        <p:spPr>
          <a:xfrm>
            <a:off x="344457" y="8314680"/>
            <a:ext cx="9558329" cy="4754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000" b="1" dirty="0"/>
              <a:t>Aims and objectives:</a:t>
            </a:r>
          </a:p>
          <a:p>
            <a:pPr algn="l">
              <a:lnSpc>
                <a:spcPct val="100000"/>
              </a:lnSpc>
            </a:pPr>
            <a:r>
              <a:rPr lang="en-US" sz="2400" dirty="0">
                <a:latin typeface="+mn-lt"/>
              </a:rPr>
              <a:t>Build a practical agent for repo/doc QA with citations, and quantify context-rot effects across methods.</a:t>
            </a:r>
            <a:endParaRPr lang="en-GB" sz="2400" dirty="0">
              <a:latin typeface="+mn-lt"/>
            </a:endParaRPr>
          </a:p>
          <a:p>
            <a:pPr algn="l">
              <a:lnSpc>
                <a:spcPct val="100000"/>
              </a:lnSpc>
            </a:pPr>
            <a:r>
              <a:rPr lang="en-GB" sz="2400" dirty="0">
                <a:latin typeface="+mn-lt"/>
              </a:rPr>
              <a:t>The project objectives are: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Ingest repo/docs → chunk + index (text + metadata).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Implement Baseline A: long-context stuffing / summarise-then-answer.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Implement Baseline B: standard RAG (top-k retrieval).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Implement Method C: recursive reading (decomposition + selective snippet reading + synthesis).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Create 60–120 QA queries (single-hop + multi-hop).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Evaluate: accuracy, citation correctness, tokens/calls, latency; plot vs corpus size/distractors.</a:t>
            </a:r>
          </a:p>
          <a:p>
            <a:pPr algn="l"/>
            <a:endParaRPr lang="en-GB" sz="2400" dirty="0"/>
          </a:p>
          <a:p>
            <a:pPr algn="l"/>
            <a:endParaRPr lang="en-GB" sz="2400" dirty="0"/>
          </a:p>
          <a:p>
            <a:pPr algn="l"/>
            <a:endParaRPr lang="en-GB" sz="2400" dirty="0"/>
          </a:p>
          <a:p>
            <a:pPr algn="l"/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139A99-734D-492D-A2B4-ABC6F3A46758}"/>
              </a:ext>
            </a:extLst>
          </p:cNvPr>
          <p:cNvSpPr txBox="1"/>
          <p:nvPr/>
        </p:nvSpPr>
        <p:spPr>
          <a:xfrm>
            <a:off x="10165275" y="11352681"/>
            <a:ext cx="52792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b="1" dirty="0">
                <a:latin typeface="+mj-lt"/>
              </a:rPr>
              <a:t>Design, Implementation &amp; Testing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9471E64-3B9C-4ECE-8C5C-623E3B8AA5F1}"/>
              </a:ext>
            </a:extLst>
          </p:cNvPr>
          <p:cNvSpPr txBox="1">
            <a:spLocks/>
          </p:cNvSpPr>
          <p:nvPr/>
        </p:nvSpPr>
        <p:spPr>
          <a:xfrm>
            <a:off x="10165275" y="3575832"/>
            <a:ext cx="10304075" cy="743796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/>
              <a:t>Key requirements:</a:t>
            </a:r>
            <a:endParaRPr lang="en-GB" sz="3200" dirty="0"/>
          </a:p>
          <a:p>
            <a:pPr algn="l">
              <a:lnSpc>
                <a:spcPct val="110000"/>
              </a:lnSpc>
            </a:pPr>
            <a:r>
              <a:rPr lang="en-GB" sz="2800" dirty="0">
                <a:latin typeface="+mn-lt"/>
              </a:rPr>
              <a:t>Functional</a:t>
            </a: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Must: Ingest a repository/document set and produce an index usable for QA.</a:t>
            </a:r>
            <a:endParaRPr lang="en-GB" sz="2600" dirty="0">
              <a:latin typeface="+mn-lt"/>
            </a:endParaRP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Must: Answer user questions with evidence citations (file path + line range / doc section).</a:t>
            </a:r>
            <a:r>
              <a:rPr lang="en-GB" sz="2600" dirty="0">
                <a:latin typeface="+mn-lt"/>
              </a:rPr>
              <a:t>The tool should blah blah blah</a:t>
            </a: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Must: Support three modes (A) long-context, (B) RAG, (C) recursive reading for fair comparison.</a:t>
            </a:r>
            <a:r>
              <a:rPr lang="en-GB" sz="2600" dirty="0">
                <a:latin typeface="+mn-lt"/>
              </a:rPr>
              <a:t>The tool would blah blah blah</a:t>
            </a: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Should: Provide a tool-trace (actions taken) to improve transparency/debugging.</a:t>
            </a:r>
            <a:endParaRPr lang="en-GB" sz="2600" dirty="0">
              <a:latin typeface="+mn-lt"/>
            </a:endParaRP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Should: Support multi-hop questions requiring evidence from multiple files/sections.</a:t>
            </a: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Would: Offer a simple UI (optional) for browsing answers + citations.</a:t>
            </a:r>
            <a:endParaRPr lang="en-GB" sz="2600" dirty="0">
              <a:latin typeface="+mn-lt"/>
            </a:endParaRPr>
          </a:p>
          <a:p>
            <a:pPr algn="l">
              <a:lnSpc>
                <a:spcPct val="110000"/>
              </a:lnSpc>
            </a:pPr>
            <a:endParaRPr lang="en-GB" sz="2400" dirty="0">
              <a:latin typeface="+mn-lt"/>
            </a:endParaRPr>
          </a:p>
          <a:p>
            <a:pPr algn="l">
              <a:lnSpc>
                <a:spcPct val="110000"/>
              </a:lnSpc>
            </a:pPr>
            <a:r>
              <a:rPr lang="en-GB" sz="2800" dirty="0">
                <a:latin typeface="+mn-lt"/>
              </a:rPr>
              <a:t>Non-functional</a:t>
            </a: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Must: Reproducible evaluation (fixed QA set + seeds + logged configs).</a:t>
            </a: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Must: Safe tool execution (read-only tools; no destructive repo operations).</a:t>
            </a: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Should: Reasonable latency per query (target: seconds–tens of seconds depending on mode).</a:t>
            </a: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Should: Cost tracking (tokens + calls) reported for each method.</a:t>
            </a: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Would: Modular design so retrieval/agent policies can be swapped.</a:t>
            </a:r>
            <a:endParaRPr lang="en-GB" sz="2600" dirty="0">
              <a:latin typeface="+mn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A0EC11-1BBD-E324-4111-EE404AE69312}"/>
              </a:ext>
            </a:extLst>
          </p:cNvPr>
          <p:cNvGrpSpPr/>
          <p:nvPr/>
        </p:nvGrpSpPr>
        <p:grpSpPr>
          <a:xfrm>
            <a:off x="20664023" y="3628617"/>
            <a:ext cx="7895737" cy="3109751"/>
            <a:chOff x="20664023" y="4278784"/>
            <a:chExt cx="7895737" cy="310975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031F712-8648-4AFF-9A6D-FCBF70730BEB}"/>
                </a:ext>
              </a:extLst>
            </p:cNvPr>
            <p:cNvSpPr txBox="1"/>
            <p:nvPr/>
          </p:nvSpPr>
          <p:spPr>
            <a:xfrm>
              <a:off x="20664023" y="4278784"/>
              <a:ext cx="49718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i="1" dirty="0"/>
                <a:t>Implementation artefacts (if any)</a:t>
              </a:r>
            </a:p>
          </p:txBody>
        </p:sp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CC83C7AB-E1BB-4B82-A1F9-C20A7B903A89}"/>
                </a:ext>
              </a:extLst>
            </p:cNvPr>
            <p:cNvSpPr txBox="1">
              <a:spLocks/>
            </p:cNvSpPr>
            <p:nvPr/>
          </p:nvSpPr>
          <p:spPr>
            <a:xfrm>
              <a:off x="20664023" y="5021562"/>
              <a:ext cx="7895737" cy="2366973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algn="ctr" defTabSz="2138324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403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342900" indent="-342900" algn="l">
                <a:lnSpc>
                  <a:spcPct val="100000"/>
                </a:lnSpc>
                <a:buFont typeface="Wingdings" panose="05000000000000000000" pitchFamily="2" charset="2"/>
                <a:buChar char="q"/>
              </a:pPr>
              <a:r>
                <a:rPr lang="en-GB" sz="2400" dirty="0">
                  <a:latin typeface="+mn-lt"/>
                </a:rPr>
                <a:t> Repo/doc ingestion script (parsing + metadata)</a:t>
              </a:r>
            </a:p>
            <a:p>
              <a:pPr marL="342900" indent="-342900" algn="l">
                <a:lnSpc>
                  <a:spcPct val="100000"/>
                </a:lnSpc>
                <a:buFont typeface="Wingdings" panose="05000000000000000000" pitchFamily="2" charset="2"/>
                <a:buChar char="q"/>
              </a:pPr>
              <a:r>
                <a:rPr lang="en-GB" sz="2400" dirty="0">
                  <a:latin typeface="+mn-lt"/>
                </a:rPr>
                <a:t> Chunking + embedding index (vector store)</a:t>
              </a:r>
            </a:p>
            <a:p>
              <a:pPr marL="342900" indent="-342900" algn="l">
                <a:lnSpc>
                  <a:spcPct val="100000"/>
                </a:lnSpc>
                <a:buFont typeface="Wingdings" panose="05000000000000000000" pitchFamily="2" charset="2"/>
                <a:buChar char="q"/>
              </a:pPr>
              <a:r>
                <a:rPr lang="en-GB" sz="2400" dirty="0">
                  <a:latin typeface="+mn-lt"/>
                </a:rPr>
                <a:t> RAG baseline (top-k retrieve → answer + cite)</a:t>
              </a:r>
            </a:p>
            <a:p>
              <a:pPr marL="342900" indent="-342900" algn="l">
                <a:lnSpc>
                  <a:spcPct val="100000"/>
                </a:lnSpc>
                <a:buFont typeface="Wingdings" panose="05000000000000000000" pitchFamily="2" charset="2"/>
                <a:buChar char="q"/>
              </a:pPr>
              <a:r>
                <a:rPr lang="en-GB" sz="2400" dirty="0">
                  <a:latin typeface="+mn-lt"/>
                </a:rPr>
                <a:t> Long-context baseline (summarise/stuff → answer)</a:t>
              </a:r>
            </a:p>
            <a:p>
              <a:pPr marL="342900" indent="-342900" algn="l">
                <a:lnSpc>
                  <a:spcPct val="100000"/>
                </a:lnSpc>
                <a:buFont typeface="Wingdings" panose="05000000000000000000" pitchFamily="2" charset="2"/>
                <a:buChar char="q"/>
              </a:pPr>
              <a:r>
                <a:rPr lang="en-GB" sz="2400" dirty="0">
                  <a:latin typeface="+mn-lt"/>
                </a:rPr>
                <a:t> Recursive reading controller (tools + trace)</a:t>
              </a:r>
            </a:p>
            <a:p>
              <a:pPr marL="342900" indent="-342900" algn="l">
                <a:lnSpc>
                  <a:spcPct val="100000"/>
                </a:lnSpc>
                <a:buFont typeface="Wingdings" panose="05000000000000000000" pitchFamily="2" charset="2"/>
                <a:buChar char="q"/>
              </a:pPr>
              <a:r>
                <a:rPr lang="en-GB" sz="2400" dirty="0">
                  <a:latin typeface="+mn-lt"/>
                </a:rPr>
                <a:t> Evaluation harness (QA set + metrics + plots)</a:t>
              </a:r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5B50A179-7B9A-4987-A17A-B2BA2FD57E22}"/>
              </a:ext>
            </a:extLst>
          </p:cNvPr>
          <p:cNvSpPr txBox="1">
            <a:spLocks/>
          </p:cNvSpPr>
          <p:nvPr/>
        </p:nvSpPr>
        <p:spPr>
          <a:xfrm>
            <a:off x="20664015" y="9952157"/>
            <a:ext cx="8823076" cy="2565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000" b="1" dirty="0"/>
              <a:t>Planning and Management: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Weeks 1–2: Scope + Dataset Lock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Weeks 3–4: Ingestion &amp; Indexing Foundation</a:t>
            </a:r>
            <a:endParaRPr lang="en-GB" sz="2400" dirty="0">
              <a:latin typeface="+mn-lt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Weeks 5–6: Baseline A &amp; B Working</a:t>
            </a:r>
            <a:endParaRPr lang="en-GB" sz="2400" dirty="0">
              <a:latin typeface="+mn-lt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Weeks 7–8: Recursive Reading Agent (Proposed Method)</a:t>
            </a:r>
            <a:endParaRPr lang="en-GB" sz="2400" dirty="0">
              <a:latin typeface="+mn-lt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Weeks 9–10: Evaluation &amp; Context-Rot Study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Weeks 11–12: Packaging, Poster, Demo &amp; Video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8D1FE95-39F4-4D38-B2EF-53232BFBC6D7}"/>
              </a:ext>
            </a:extLst>
          </p:cNvPr>
          <p:cNvSpPr txBox="1">
            <a:spLocks/>
          </p:cNvSpPr>
          <p:nvPr/>
        </p:nvSpPr>
        <p:spPr>
          <a:xfrm>
            <a:off x="20664015" y="12972831"/>
            <a:ext cx="8823076" cy="787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0000"/>
              </a:lnSpc>
            </a:pPr>
            <a:r>
              <a:rPr lang="en-GB" sz="3200" b="1" dirty="0"/>
              <a:t>References</a:t>
            </a:r>
            <a:r>
              <a:rPr lang="en-GB" sz="3000" b="1" dirty="0"/>
              <a:t>:</a:t>
            </a:r>
            <a:br>
              <a:rPr lang="en-GB" sz="3000" dirty="0"/>
            </a:br>
            <a:r>
              <a:rPr lang="en-GB" sz="2400" dirty="0">
                <a:latin typeface="+mn-lt"/>
              </a:rPr>
              <a:t>Lewis, P., Perez, E., </a:t>
            </a:r>
            <a:r>
              <a:rPr lang="en-GB" sz="2400" dirty="0" err="1">
                <a:latin typeface="+mn-lt"/>
              </a:rPr>
              <a:t>Piktus</a:t>
            </a:r>
            <a:r>
              <a:rPr lang="en-GB" sz="2400" dirty="0">
                <a:latin typeface="+mn-lt"/>
              </a:rPr>
              <a:t>, A., et al. (2020) ‘Retrieval-Augmented Generation for Knowledge-Intensive NLP Tasks’. In: Advances in Neural Information Processing Systems (</a:t>
            </a:r>
            <a:r>
              <a:rPr lang="en-GB" sz="2400" dirty="0" err="1">
                <a:latin typeface="+mn-lt"/>
              </a:rPr>
              <a:t>NeurIPS</a:t>
            </a:r>
            <a:r>
              <a:rPr lang="en-GB" sz="2400" dirty="0">
                <a:latin typeface="+mn-lt"/>
              </a:rPr>
              <a:t> 2020).</a:t>
            </a:r>
          </a:p>
          <a:p>
            <a:pPr algn="l">
              <a:lnSpc>
                <a:spcPct val="110000"/>
              </a:lnSpc>
            </a:pPr>
            <a:endParaRPr lang="en-GB" sz="2400" dirty="0">
              <a:latin typeface="+mn-lt"/>
            </a:endParaRPr>
          </a:p>
          <a:p>
            <a:pPr algn="l">
              <a:lnSpc>
                <a:spcPct val="110000"/>
              </a:lnSpc>
            </a:pPr>
            <a:r>
              <a:rPr lang="en-GB" sz="2400" dirty="0">
                <a:latin typeface="+mn-lt"/>
              </a:rPr>
              <a:t>Liu, N.F., Lin, K., Hewitt, J., et al. (2024) ‘Lost in the Middle: How Language Models Use Long Contexts’. Transactions of the Association for Computational Linguistics, 12, pp. 157–173.</a:t>
            </a:r>
          </a:p>
          <a:p>
            <a:pPr algn="l">
              <a:lnSpc>
                <a:spcPct val="110000"/>
              </a:lnSpc>
            </a:pPr>
            <a:endParaRPr lang="en-GB" sz="2400" dirty="0">
              <a:latin typeface="+mn-lt"/>
            </a:endParaRPr>
          </a:p>
          <a:p>
            <a:pPr algn="l">
              <a:lnSpc>
                <a:spcPct val="110000"/>
              </a:lnSpc>
            </a:pPr>
            <a:r>
              <a:rPr lang="en-GB" sz="2400" dirty="0">
                <a:latin typeface="+mn-lt"/>
              </a:rPr>
              <a:t>Yao, S., Zhao, J., Yu, D., et al. (2023) ‘</a:t>
            </a:r>
            <a:r>
              <a:rPr lang="en-GB" sz="2400" dirty="0" err="1">
                <a:latin typeface="+mn-lt"/>
              </a:rPr>
              <a:t>ReAct</a:t>
            </a:r>
            <a:r>
              <a:rPr lang="en-GB" sz="2400" dirty="0">
                <a:latin typeface="+mn-lt"/>
              </a:rPr>
              <a:t>: Synergizing Reasoning and Acting in Language Models’. </a:t>
            </a:r>
            <a:r>
              <a:rPr lang="en-GB" sz="2400" dirty="0" err="1">
                <a:latin typeface="+mn-lt"/>
              </a:rPr>
              <a:t>arXiv</a:t>
            </a:r>
            <a:r>
              <a:rPr lang="en-GB" sz="2400" dirty="0">
                <a:latin typeface="+mn-lt"/>
              </a:rPr>
              <a:t> preprint arXiv:2210.03629.</a:t>
            </a:r>
          </a:p>
          <a:p>
            <a:pPr algn="l">
              <a:lnSpc>
                <a:spcPct val="110000"/>
              </a:lnSpc>
            </a:pPr>
            <a:endParaRPr lang="en-GB" sz="2400" dirty="0">
              <a:latin typeface="+mn-lt"/>
            </a:endParaRPr>
          </a:p>
          <a:p>
            <a:pPr algn="l">
              <a:lnSpc>
                <a:spcPct val="110000"/>
              </a:lnSpc>
            </a:pPr>
            <a:r>
              <a:rPr lang="en-GB" sz="2400" dirty="0">
                <a:latin typeface="+mn-lt"/>
              </a:rPr>
              <a:t>Schick, T., Dwivedi-Yu, J., </a:t>
            </a:r>
            <a:r>
              <a:rPr lang="en-GB" sz="2400" dirty="0" err="1">
                <a:latin typeface="+mn-lt"/>
              </a:rPr>
              <a:t>Dessì</a:t>
            </a:r>
            <a:r>
              <a:rPr lang="en-GB" sz="2400" dirty="0">
                <a:latin typeface="+mn-lt"/>
              </a:rPr>
              <a:t>, R., et al. (2023) ‘</a:t>
            </a:r>
            <a:r>
              <a:rPr lang="en-GB" sz="2400" dirty="0" err="1">
                <a:latin typeface="+mn-lt"/>
              </a:rPr>
              <a:t>Toolformer</a:t>
            </a:r>
            <a:r>
              <a:rPr lang="en-GB" sz="2400" dirty="0">
                <a:latin typeface="+mn-lt"/>
              </a:rPr>
              <a:t>: Language Models Can Teach Themselves to Use Tools’. </a:t>
            </a:r>
            <a:r>
              <a:rPr lang="en-GB" sz="2400" dirty="0" err="1">
                <a:latin typeface="+mn-lt"/>
              </a:rPr>
              <a:t>arXiv</a:t>
            </a:r>
            <a:r>
              <a:rPr lang="en-GB" sz="2400" dirty="0">
                <a:latin typeface="+mn-lt"/>
              </a:rPr>
              <a:t> preprint arXiv:2302.04761.</a:t>
            </a:r>
          </a:p>
          <a:p>
            <a:pPr algn="l">
              <a:lnSpc>
                <a:spcPct val="110000"/>
              </a:lnSpc>
            </a:pPr>
            <a:endParaRPr lang="en-GB" sz="2400" dirty="0">
              <a:latin typeface="+mn-lt"/>
            </a:endParaRPr>
          </a:p>
          <a:p>
            <a:pPr algn="l">
              <a:lnSpc>
                <a:spcPct val="110000"/>
              </a:lnSpc>
            </a:pPr>
            <a:r>
              <a:rPr lang="en-GB" sz="2400" dirty="0">
                <a:latin typeface="+mn-lt"/>
              </a:rPr>
              <a:t>Zhang, A.L., Kraska, T. and Khattab, O. (2025) ‘Recursive Language Models’. </a:t>
            </a:r>
            <a:r>
              <a:rPr lang="en-GB" sz="2400" dirty="0" err="1">
                <a:latin typeface="+mn-lt"/>
              </a:rPr>
              <a:t>arXiv</a:t>
            </a:r>
            <a:r>
              <a:rPr lang="en-GB" sz="2400" dirty="0">
                <a:latin typeface="+mn-lt"/>
              </a:rPr>
              <a:t> preprint arXiv:2512.24601.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5B411E9-4872-4190-BCE2-7FC82A022711}"/>
              </a:ext>
            </a:extLst>
          </p:cNvPr>
          <p:cNvCxnSpPr>
            <a:cxnSpLocks/>
          </p:cNvCxnSpPr>
          <p:nvPr/>
        </p:nvCxnSpPr>
        <p:spPr>
          <a:xfrm>
            <a:off x="10097451" y="3575832"/>
            <a:ext cx="0" cy="172677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094C917-028B-4D9F-9148-8DFC6520CD1F}"/>
              </a:ext>
            </a:extLst>
          </p:cNvPr>
          <p:cNvCxnSpPr>
            <a:cxnSpLocks/>
          </p:cNvCxnSpPr>
          <p:nvPr/>
        </p:nvCxnSpPr>
        <p:spPr>
          <a:xfrm>
            <a:off x="20469357" y="3591698"/>
            <a:ext cx="0" cy="17251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240336A-E74F-49A9-86DC-8EF5CEE14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9125" y="280073"/>
            <a:ext cx="1867161" cy="1876687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CC7AA43E-169E-4584-BD61-1564EB886BA4}"/>
              </a:ext>
            </a:extLst>
          </p:cNvPr>
          <p:cNvSpPr txBox="1">
            <a:spLocks/>
          </p:cNvSpPr>
          <p:nvPr/>
        </p:nvSpPr>
        <p:spPr>
          <a:xfrm>
            <a:off x="26197545" y="2250384"/>
            <a:ext cx="3950320" cy="74753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/>
              <a:t>A QR Code link to my video submission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BA7CAC0-9E27-AAF7-0C00-EEB3D45A33BD}"/>
              </a:ext>
            </a:extLst>
          </p:cNvPr>
          <p:cNvGrpSpPr/>
          <p:nvPr/>
        </p:nvGrpSpPr>
        <p:grpSpPr>
          <a:xfrm>
            <a:off x="20664023" y="6932905"/>
            <a:ext cx="9302833" cy="2826137"/>
            <a:chOff x="20664023" y="7831819"/>
            <a:chExt cx="9302833" cy="282613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204FDE-6B7C-493E-B33F-71E6F2C28506}"/>
                </a:ext>
              </a:extLst>
            </p:cNvPr>
            <p:cNvSpPr txBox="1"/>
            <p:nvPr/>
          </p:nvSpPr>
          <p:spPr>
            <a:xfrm>
              <a:off x="20664023" y="7831819"/>
              <a:ext cx="120667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i="1" dirty="0"/>
                <a:t>Testing</a:t>
              </a:r>
            </a:p>
          </p:txBody>
        </p:sp>
        <p:sp>
          <p:nvSpPr>
            <p:cNvPr id="26" name="Title 1">
              <a:extLst>
                <a:ext uri="{FF2B5EF4-FFF2-40B4-BE49-F238E27FC236}">
                  <a16:creationId xmlns:a16="http://schemas.microsoft.com/office/drawing/2014/main" id="{E7B24A34-D6DD-4B29-ACC3-A1E122AA648B}"/>
                </a:ext>
              </a:extLst>
            </p:cNvPr>
            <p:cNvSpPr txBox="1">
              <a:spLocks/>
            </p:cNvSpPr>
            <p:nvPr/>
          </p:nvSpPr>
          <p:spPr>
            <a:xfrm>
              <a:off x="20664023" y="8364360"/>
              <a:ext cx="9302833" cy="229359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ctr" defTabSz="2138324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403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342900" indent="-3429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GB" sz="2400" dirty="0">
                  <a:latin typeface="+mn-lt"/>
                </a:rPr>
                <a:t>Dataset: 60–120 QA queries (single-hop + multi-hop).</a:t>
              </a:r>
            </a:p>
            <a:p>
              <a:pPr marL="342900" indent="-3429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GB" sz="2400" dirty="0">
                  <a:latin typeface="+mn-lt"/>
                </a:rPr>
                <a:t>Metrics: Accuracy, Citation correctness, Tokens/Calls, Latency.</a:t>
              </a:r>
            </a:p>
            <a:p>
              <a:pPr marL="342900" indent="-3429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GB" sz="2400" dirty="0">
                  <a:latin typeface="+mn-lt"/>
                </a:rPr>
                <a:t>Context-rot protocol: increase corpus size and add distractor text; plot metric vs size.</a:t>
              </a:r>
            </a:p>
            <a:p>
              <a:pPr marL="342900" indent="-342900" algn="l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GB" sz="2400" dirty="0">
                  <a:latin typeface="+mn-lt"/>
                </a:rPr>
                <a:t>Error analysis: retrieval miss vs wrong cite vs reasoning/synthesis error.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C0249FF-9EC8-22B3-63EB-467B00E6E4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9974" y="11906679"/>
            <a:ext cx="7414315" cy="9138312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07CE8AFB-8188-6D3D-D354-6B3E8D283A16}"/>
              </a:ext>
            </a:extLst>
          </p:cNvPr>
          <p:cNvSpPr txBox="1">
            <a:spLocks/>
          </p:cNvSpPr>
          <p:nvPr/>
        </p:nvSpPr>
        <p:spPr>
          <a:xfrm>
            <a:off x="344457" y="13858984"/>
            <a:ext cx="9598102" cy="63070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000" b="1" dirty="0"/>
              <a:t>Research: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RAG improves grounding by retrieving external evidence, but quality depends on retrieval coverage; multi-hop questions can fail if key evidence is not retrieved (Lewis et al., 2020).</a:t>
            </a:r>
          </a:p>
          <a:p>
            <a:pPr algn="l">
              <a:lnSpc>
                <a:spcPct val="100000"/>
              </a:lnSpc>
            </a:pPr>
            <a:endParaRPr lang="en-US" sz="2400" dirty="0">
              <a:latin typeface="+mn-lt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Long-context LMs can degrade on long inputs (e.g., information “lost in the middle”), motivating approaches that avoid single-shot stuffing (Liu et al., 2024).</a:t>
            </a:r>
          </a:p>
          <a:p>
            <a:pPr algn="l">
              <a:lnSpc>
                <a:spcPct val="100000"/>
              </a:lnSpc>
            </a:pPr>
            <a:endParaRPr lang="en-US" sz="2400" dirty="0">
              <a:latin typeface="+mn-lt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 Tool-using agents (e.g., </a:t>
            </a:r>
            <a:r>
              <a:rPr lang="en-US" sz="2400" dirty="0" err="1">
                <a:latin typeface="+mn-lt"/>
              </a:rPr>
              <a:t>ReAct</a:t>
            </a:r>
            <a:r>
              <a:rPr lang="en-US" sz="2400" dirty="0">
                <a:latin typeface="+mn-lt"/>
              </a:rPr>
              <a:t>/</a:t>
            </a:r>
            <a:r>
              <a:rPr lang="en-US" sz="2400" dirty="0" err="1">
                <a:latin typeface="+mn-lt"/>
              </a:rPr>
              <a:t>Toolformer</a:t>
            </a:r>
            <a:r>
              <a:rPr lang="en-US" sz="2400" dirty="0">
                <a:latin typeface="+mn-lt"/>
              </a:rPr>
              <a:t>) suggest models can plan + act via tools; however, longer tool traces increase cost and compound errors (Yao et al., 2023; Schick et al., 2023).</a:t>
            </a:r>
          </a:p>
          <a:p>
            <a:pPr algn="l">
              <a:lnSpc>
                <a:spcPct val="100000"/>
              </a:lnSpc>
            </a:pPr>
            <a:endParaRPr lang="en-US" sz="2400" dirty="0">
              <a:latin typeface="+mn-lt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Recursive reading ideas propose decomposing and re-calling the model over selected parts rather than feeding a massive prompt; practical benefit must be verified with controlled evaluation (Zhang et al., 2025).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2400" dirty="0"/>
          </a:p>
          <a:p>
            <a:pPr algn="l"/>
            <a:endParaRPr lang="en-GB" sz="2400" dirty="0"/>
          </a:p>
          <a:p>
            <a:pPr algn="l"/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51E438-312F-417F-31B8-054B7EEA55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9125" y="309147"/>
            <a:ext cx="1867161" cy="181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76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411</TotalTime>
  <Words>953</Words>
  <Application>Microsoft Office PowerPoint</Application>
  <PresentationFormat>Custom</PresentationFormat>
  <Paragraphs>71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Research:  A short summary of your research providing key related works;  Be critical. Use appropriate citation. </dc:title>
  <dc:creator>Theo Spyridopoulos</dc:creator>
  <cp:lastModifiedBy>muối méo</cp:lastModifiedBy>
  <cp:revision>7</cp:revision>
  <dcterms:created xsi:type="dcterms:W3CDTF">2017-09-14T11:34:59Z</dcterms:created>
  <dcterms:modified xsi:type="dcterms:W3CDTF">2026-02-03T08:49:39Z</dcterms:modified>
</cp:coreProperties>
</file>