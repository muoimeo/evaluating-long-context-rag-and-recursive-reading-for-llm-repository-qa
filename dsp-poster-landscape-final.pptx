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87E0C-A909-4B33-AAEC-C8FE2898D1D6}" v="2" dt="2021-09-27T10:48:1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1" autoAdjust="0"/>
    <p:restoredTop sz="94660"/>
  </p:normalViewPr>
  <p:slideViewPr>
    <p:cSldViewPr snapToGrid="0">
      <p:cViewPr varScale="1">
        <p:scale>
          <a:sx n="31" d="100"/>
          <a:sy n="31" d="100"/>
        </p:scale>
        <p:origin x="110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e" userId="85e06418-59bd-47e0-a045-7cb64a79f74f" providerId="ADAL" clId="{E4587E0C-A909-4B33-AAEC-C8FE2898D1D6}"/>
    <pc:docChg chg="modSld">
      <pc:chgData name="Jonathan White" userId="85e06418-59bd-47e0-a045-7cb64a79f74f" providerId="ADAL" clId="{E4587E0C-A909-4B33-AAEC-C8FE2898D1D6}" dt="2021-09-27T10:48:55.689" v="45" actId="1038"/>
      <pc:docMkLst>
        <pc:docMk/>
      </pc:docMkLst>
      <pc:sldChg chg="addSp modSp mod">
        <pc:chgData name="Jonathan White" userId="85e06418-59bd-47e0-a045-7cb64a79f74f" providerId="ADAL" clId="{E4587E0C-A909-4B33-AAEC-C8FE2898D1D6}" dt="2021-09-27T10:48:55.689" v="45" actId="1038"/>
        <pc:sldMkLst>
          <pc:docMk/>
          <pc:sldMk cId="3527676133" sldId="256"/>
        </pc:sldMkLst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0" creationId="{69BA5F24-787C-44AE-908F-B619A20C120C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1" creationId="{8DC5D838-27F2-4B38-925B-C678D6555772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2" creationId="{0EB231AF-9096-4646-81B1-3F5BBFA44D34}"/>
          </ac:spMkLst>
        </pc:spChg>
        <pc:spChg chg="mod">
          <ac:chgData name="Jonathan White" userId="85e06418-59bd-47e0-a045-7cb64a79f74f" providerId="ADAL" clId="{E4587E0C-A909-4B33-AAEC-C8FE2898D1D6}" dt="2021-09-27T10:48:43.194" v="28" actId="1076"/>
          <ac:spMkLst>
            <pc:docMk/>
            <pc:sldMk cId="3527676133" sldId="256"/>
            <ac:spMk id="13" creationId="{E2139A99-734D-492D-A2B4-ABC6F3A46758}"/>
          </ac:spMkLst>
        </pc:spChg>
        <pc:spChg chg="mod">
          <ac:chgData name="Jonathan White" userId="85e06418-59bd-47e0-a045-7cb64a79f74f" providerId="ADAL" clId="{E4587E0C-A909-4B33-AAEC-C8FE2898D1D6}" dt="2021-09-27T10:48:50.113" v="29" actId="1076"/>
          <ac:spMkLst>
            <pc:docMk/>
            <pc:sldMk cId="3527676133" sldId="256"/>
            <ac:spMk id="14" creationId="{29471E64-3B9C-4ECE-8C5C-623E3B8AA5F1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19" creationId="{5B50A179-7B9A-4987-A17A-B2BA2FD57E22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20" creationId="{D8D1FE95-39F4-4D38-B2EF-53232BFBC6D7}"/>
          </ac:spMkLst>
        </pc:spChg>
        <pc:spChg chg="add mod">
          <ac:chgData name="Jonathan White" userId="85e06418-59bd-47e0-a045-7cb64a79f74f" providerId="ADAL" clId="{E4587E0C-A909-4B33-AAEC-C8FE2898D1D6}" dt="2021-09-27T10:47:46.617" v="1" actId="1076"/>
          <ac:spMkLst>
            <pc:docMk/>
            <pc:sldMk cId="3527676133" sldId="256"/>
            <ac:spMk id="24" creationId="{CC7AA43E-169E-4584-BD61-1564EB886BA4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5" creationId="{4D204FDE-6B7C-493E-B33F-71E6F2C28506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6" creationId="{E7B24A34-D6DD-4B29-ACC3-A1E122AA648B}"/>
          </ac:spMkLst>
        </pc:spChg>
        <pc:picChg chg="add mod">
          <ac:chgData name="Jonathan White" userId="85e06418-59bd-47e0-a045-7cb64a79f74f" providerId="ADAL" clId="{E4587E0C-A909-4B33-AAEC-C8FE2898D1D6}" dt="2021-09-27T10:47:46.617" v="1" actId="1076"/>
          <ac:picMkLst>
            <pc:docMk/>
            <pc:sldMk cId="3527676133" sldId="256"/>
            <ac:picMk id="22" creationId="{3240336A-E74F-49A9-86DC-8EF5CEE144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00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3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67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82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63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00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33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2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1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0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15FF-C1AD-4C39-96B2-5B4D7F33D7E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9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F3DE40-F1B5-4977-85B9-1AECC389B896}"/>
              </a:ext>
            </a:extLst>
          </p:cNvPr>
          <p:cNvSpPr txBox="1"/>
          <p:nvPr/>
        </p:nvSpPr>
        <p:spPr>
          <a:xfrm>
            <a:off x="6221124" y="0"/>
            <a:ext cx="10516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UFCFXK-30-3: Digital Systems Project</a:t>
            </a:r>
          </a:p>
        </p:txBody>
      </p:sp>
      <p:pic>
        <p:nvPicPr>
          <p:cNvPr id="8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AEE2C9CD-77BB-42E5-B50C-E5AFA99C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" y="0"/>
            <a:ext cx="5816411" cy="290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0246FA-7BB3-460A-BC34-659DB14AA1A0}"/>
              </a:ext>
            </a:extLst>
          </p:cNvPr>
          <p:cNvSpPr txBox="1"/>
          <p:nvPr/>
        </p:nvSpPr>
        <p:spPr>
          <a:xfrm>
            <a:off x="6221124" y="1218417"/>
            <a:ext cx="199764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Student name: Bui Vu Nhat Minh</a:t>
            </a:r>
          </a:p>
          <a:p>
            <a:r>
              <a:rPr lang="en-GB" sz="4000" dirty="0"/>
              <a:t>Project Title: Evaluating Methods for Question Answering over Large Code Repositories and Technical Documents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5F24-787C-44AE-908F-B619A20C120C}"/>
              </a:ext>
            </a:extLst>
          </p:cNvPr>
          <p:cNvSpPr txBox="1">
            <a:spLocks/>
          </p:cNvSpPr>
          <p:nvPr/>
        </p:nvSpPr>
        <p:spPr>
          <a:xfrm>
            <a:off x="344457" y="3628616"/>
            <a:ext cx="9752991" cy="58812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000" b="1" dirty="0"/>
              <a:t>Abstract</a:t>
            </a:r>
            <a:r>
              <a:rPr lang="en-GB" sz="3000" b="1" dirty="0"/>
              <a:t>:</a:t>
            </a:r>
          </a:p>
          <a:p>
            <a:pPr algn="l">
              <a:lnSpc>
                <a:spcPct val="120000"/>
              </a:lnSpc>
            </a:pPr>
            <a:r>
              <a:rPr lang="en-US" sz="9600" dirty="0"/>
              <a:t>This project builds and evaluates a system for question answering over large code repositories and long technical documents with explicit evidence citations (file paths and line ranges or document sections).</a:t>
            </a:r>
          </a:p>
          <a:p>
            <a:pPr algn="l">
              <a:lnSpc>
                <a:spcPct val="120000"/>
              </a:lnSpc>
            </a:pPr>
            <a:r>
              <a:rPr lang="en-US" sz="9600" dirty="0"/>
              <a:t>The work focuses on long-context degradation (“context rot”), where model performance deteriorates when large amounts of potentially irrelevant or misleading content are provided.</a:t>
            </a:r>
          </a:p>
          <a:p>
            <a:pPr algn="l">
              <a:lnSpc>
                <a:spcPct val="120000"/>
              </a:lnSpc>
            </a:pPr>
            <a:r>
              <a:rPr lang="en-US" sz="9600" dirty="0"/>
              <a:t>We compare three approaches under a controlled evaluation setting:</a:t>
            </a:r>
          </a:p>
          <a:p>
            <a:pPr marL="1371600" indent="-1371600" algn="l">
              <a:lnSpc>
                <a:spcPct val="120000"/>
              </a:lnSpc>
              <a:buAutoNum type="arabicParenBoth"/>
            </a:pPr>
            <a:r>
              <a:rPr lang="en-US" sz="9600" dirty="0"/>
              <a:t>single-pass long-context prompting,</a:t>
            </a:r>
          </a:p>
          <a:p>
            <a:pPr marL="1371600" indent="-1371600" algn="l">
              <a:lnSpc>
                <a:spcPct val="120000"/>
              </a:lnSpc>
              <a:buAutoNum type="arabicParenBoth"/>
            </a:pPr>
            <a:r>
              <a:rPr lang="en-US" sz="9600" dirty="0"/>
              <a:t>standard retrieval-augmented generation (RAG), and</a:t>
            </a:r>
          </a:p>
          <a:p>
            <a:pPr marL="1371600" indent="-1371600" algn="l">
              <a:lnSpc>
                <a:spcPct val="120000"/>
              </a:lnSpc>
              <a:buAutoNum type="arabicParenBoth"/>
            </a:pPr>
            <a:r>
              <a:rPr lang="en-US" sz="9600" dirty="0"/>
              <a:t>a structure-aware iterative reading pipeline that selectively retrieves, reads, and refines evidence across multiple steps before generating an answer.</a:t>
            </a:r>
          </a:p>
          <a:p>
            <a:pPr algn="l">
              <a:lnSpc>
                <a:spcPct val="120000"/>
              </a:lnSpc>
            </a:pPr>
            <a:r>
              <a:rPr lang="en-US" sz="9600" dirty="0"/>
              <a:t>The evaluation measures answer correctness, citation quality, cost, and latency under increasing levels of distractor noise.</a:t>
            </a:r>
            <a:endParaRPr lang="en-US" sz="9600" dirty="0">
              <a:latin typeface="+mn-lt"/>
            </a:endParaRPr>
          </a:p>
          <a:p>
            <a:pPr algn="l">
              <a:lnSpc>
                <a:spcPct val="120000"/>
              </a:lnSpc>
            </a:pPr>
            <a:endParaRPr lang="en-GB" sz="2400" dirty="0">
              <a:latin typeface="+mn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231AF-9096-4646-81B1-3F5BBFA44D34}"/>
              </a:ext>
            </a:extLst>
          </p:cNvPr>
          <p:cNvSpPr txBox="1">
            <a:spLocks/>
          </p:cNvSpPr>
          <p:nvPr/>
        </p:nvSpPr>
        <p:spPr>
          <a:xfrm>
            <a:off x="344457" y="9759042"/>
            <a:ext cx="9558329" cy="3896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Aims and objectives: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Ingest repo/docs → chunk + index (text + metadata).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Baseline A: long-context stuffing / summarise-then-answer.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Baseline B: standard RAG (top-k retrieval).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Method C: </a:t>
            </a:r>
            <a:r>
              <a:rPr lang="en-US" sz="2400" dirty="0">
                <a:latin typeface="+mn-lt"/>
              </a:rPr>
              <a:t>structure-aware iterative reading (selective reading + follow-up retrieval + evidence synthesis)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Create 60 QA queries (single-hop + multi-hop).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Evaluate: Answer + Citation correctness, Cost, Latency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Introduce controlled distractor noise (semantic, same-file, inverted-gold)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Analyse</a:t>
            </a:r>
            <a:r>
              <a:rPr lang="en-US" sz="2400" dirty="0">
                <a:latin typeface="+mn-lt"/>
              </a:rPr>
              <a:t> failure cases and trade-offs</a:t>
            </a:r>
            <a:endParaRPr lang="en-GB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  <a:p>
            <a:pPr algn="l"/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9A99-734D-492D-A2B4-ABC6F3A46758}"/>
              </a:ext>
            </a:extLst>
          </p:cNvPr>
          <p:cNvSpPr txBox="1"/>
          <p:nvPr/>
        </p:nvSpPr>
        <p:spPr>
          <a:xfrm>
            <a:off x="10165275" y="11352681"/>
            <a:ext cx="52792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latin typeface="+mj-lt"/>
              </a:rPr>
              <a:t>Design, Implementation &amp; Testing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9471E64-3B9C-4ECE-8C5C-623E3B8AA5F1}"/>
              </a:ext>
            </a:extLst>
          </p:cNvPr>
          <p:cNvSpPr txBox="1">
            <a:spLocks/>
          </p:cNvSpPr>
          <p:nvPr/>
        </p:nvSpPr>
        <p:spPr>
          <a:xfrm>
            <a:off x="10165275" y="3575832"/>
            <a:ext cx="10304075" cy="743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/>
              <a:t>Key requirements:</a:t>
            </a:r>
            <a:endParaRPr lang="en-GB" sz="3200" dirty="0"/>
          </a:p>
          <a:p>
            <a:pPr algn="l">
              <a:lnSpc>
                <a:spcPct val="110000"/>
              </a:lnSpc>
            </a:pPr>
            <a:r>
              <a:rPr lang="en-GB" sz="2800" dirty="0">
                <a:latin typeface="+mn-lt"/>
              </a:rPr>
              <a:t>Functional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Ingest a repository/document set and produce an index usable for QA.</a:t>
            </a:r>
            <a:endParaRPr lang="en-GB" sz="2600" dirty="0"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Answer user questions with evidence citations (file path + line range / doc section).</a:t>
            </a:r>
            <a:endParaRPr lang="en-GB" sz="2600" dirty="0"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Support three modes (A) long-context, (B) RAG, (C) structure-aware iterative reading for fair comparison.</a:t>
            </a:r>
            <a:r>
              <a:rPr lang="en-GB" sz="2600" dirty="0">
                <a:latin typeface="+mn-lt"/>
              </a:rPr>
              <a:t> 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Provide retrieval-and-reading steps to improve transparency/debugging.</a:t>
            </a:r>
            <a:endParaRPr lang="en-GB" sz="2600" dirty="0"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Support multi-hop questions requiring evidence from multiple files/sections.</a:t>
            </a: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800" dirty="0">
                <a:latin typeface="+mn-lt"/>
              </a:rPr>
              <a:t>Non-functional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Reproducible evaluation (fixed QA set + seeds + logged configs).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Safe tool execution (read-only tools; no destructive repo operations).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Reasonable latency per query (target: seconds–tens of seconds depending on mode).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Cost tracking (tokens + calls) reported for each method.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Would: Modular design so retrieval/agent policies can be swapped.</a:t>
            </a:r>
            <a:endParaRPr lang="en-GB" sz="26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A0EC11-1BBD-E324-4111-EE404AE69312}"/>
              </a:ext>
            </a:extLst>
          </p:cNvPr>
          <p:cNvGrpSpPr/>
          <p:nvPr/>
        </p:nvGrpSpPr>
        <p:grpSpPr>
          <a:xfrm>
            <a:off x="20661958" y="3628617"/>
            <a:ext cx="7895737" cy="3294967"/>
            <a:chOff x="20661958" y="4278784"/>
            <a:chExt cx="7895737" cy="329496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31F712-8648-4AFF-9A6D-FCBF70730BEB}"/>
                </a:ext>
              </a:extLst>
            </p:cNvPr>
            <p:cNvSpPr txBox="1"/>
            <p:nvPr/>
          </p:nvSpPr>
          <p:spPr>
            <a:xfrm>
              <a:off x="20664023" y="4278784"/>
              <a:ext cx="4971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/>
                <a:t>Implementation artefacts (if any)</a:t>
              </a: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CC83C7AB-E1BB-4B82-A1F9-C20A7B903A89}"/>
                </a:ext>
              </a:extLst>
            </p:cNvPr>
            <p:cNvSpPr txBox="1">
              <a:spLocks/>
            </p:cNvSpPr>
            <p:nvPr/>
          </p:nvSpPr>
          <p:spPr>
            <a:xfrm>
              <a:off x="20661958" y="4747991"/>
              <a:ext cx="7895737" cy="282576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ctr" defTabSz="213832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403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Repo/doc ingestion script (parsing + metadata)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Chunking + embedding index (vector store)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RAG baseline (top-k retrieve → answer + cite)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Long-context baseline (summarise/stuff → answer)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US" sz="2400" dirty="0">
                  <a:latin typeface="+mn-lt"/>
                </a:rPr>
                <a:t>Structure-aware iterative reading pipeline (selective reading + follow-up + synthesis)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Evaluation harness (QA set + metrics + plots)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B50A179-7B9A-4987-A17A-B2BA2FD57E22}"/>
              </a:ext>
            </a:extLst>
          </p:cNvPr>
          <p:cNvSpPr txBox="1">
            <a:spLocks/>
          </p:cNvSpPr>
          <p:nvPr/>
        </p:nvSpPr>
        <p:spPr>
          <a:xfrm>
            <a:off x="20664015" y="9952157"/>
            <a:ext cx="8823076" cy="256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Planning and Management: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Weeks 1–2: Scope + Dataset Lock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3–4: Ingestion &amp; Indexing Foundation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5–6: Baseline A &amp; B Working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7–8: Structure-aware iterative reading pipeline (Proposed Method)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9–10: Evaluation &amp; Context-Rot Study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Weeks 11–12: Packaging, Poster, Demo &amp; Video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D1FE95-39F4-4D38-B2EF-53232BFBC6D7}"/>
              </a:ext>
            </a:extLst>
          </p:cNvPr>
          <p:cNvSpPr txBox="1">
            <a:spLocks/>
          </p:cNvSpPr>
          <p:nvPr/>
        </p:nvSpPr>
        <p:spPr>
          <a:xfrm>
            <a:off x="20664015" y="12972831"/>
            <a:ext cx="8823076" cy="787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n-GB" sz="3200" b="1" dirty="0"/>
              <a:t>References</a:t>
            </a:r>
            <a:r>
              <a:rPr lang="en-GB" sz="3000" b="1" dirty="0"/>
              <a:t>:</a:t>
            </a:r>
            <a:br>
              <a:rPr lang="en-GB" sz="3000" dirty="0"/>
            </a:br>
            <a:r>
              <a:rPr lang="en-GB" sz="2400" dirty="0">
                <a:latin typeface="+mn-lt"/>
              </a:rPr>
              <a:t>Lewis, P., Perez, E., </a:t>
            </a:r>
            <a:r>
              <a:rPr lang="en-GB" sz="2400" dirty="0" err="1">
                <a:latin typeface="+mn-lt"/>
              </a:rPr>
              <a:t>Piktus</a:t>
            </a:r>
            <a:r>
              <a:rPr lang="en-GB" sz="2400" dirty="0">
                <a:latin typeface="+mn-lt"/>
              </a:rPr>
              <a:t>, A., et al. (2020) ‘Retrieval-Augmented Generation for Knowledge-Intensive NLP Tasks’. In: Advances in Neural Information Processing Systems (</a:t>
            </a:r>
            <a:r>
              <a:rPr lang="en-GB" sz="2400" dirty="0" err="1">
                <a:latin typeface="+mn-lt"/>
              </a:rPr>
              <a:t>NeurIPS</a:t>
            </a:r>
            <a:r>
              <a:rPr lang="en-GB" sz="2400" dirty="0">
                <a:latin typeface="+mn-lt"/>
              </a:rPr>
              <a:t> 2020).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Liu, N.F., Lin, K., Hewitt, J., et al. (2024) ‘Lost in the Middle: How Language Models Use Long Contexts’. Transactions of the Association for Computational Linguistics, 12, pp. 157–173.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Yao, S., Zhao, J., Yu, D., et al. (2023) ‘</a:t>
            </a:r>
            <a:r>
              <a:rPr lang="en-GB" sz="2400" dirty="0" err="1">
                <a:latin typeface="+mn-lt"/>
              </a:rPr>
              <a:t>ReAct</a:t>
            </a:r>
            <a:r>
              <a:rPr lang="en-GB" sz="2400" dirty="0">
                <a:latin typeface="+mn-lt"/>
              </a:rPr>
              <a:t>: Synergizing Reasoning and Acting in Language Models’.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arXiv:2210.03629.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Schick, T., Dwivedi-Yu, J., </a:t>
            </a:r>
            <a:r>
              <a:rPr lang="en-GB" sz="2400" dirty="0" err="1">
                <a:latin typeface="+mn-lt"/>
              </a:rPr>
              <a:t>Dessì</a:t>
            </a:r>
            <a:r>
              <a:rPr lang="en-GB" sz="2400" dirty="0">
                <a:latin typeface="+mn-lt"/>
              </a:rPr>
              <a:t>, R., et al. (2023) ‘</a:t>
            </a:r>
            <a:r>
              <a:rPr lang="en-GB" sz="2400" dirty="0" err="1">
                <a:latin typeface="+mn-lt"/>
              </a:rPr>
              <a:t>Toolformer</a:t>
            </a:r>
            <a:r>
              <a:rPr lang="en-GB" sz="2400" dirty="0">
                <a:latin typeface="+mn-lt"/>
              </a:rPr>
              <a:t>: Language Models Can Teach Themselves to Use Tools’.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arXiv:2302.04761.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Zhang, A.L., Kraska, T. and Khattab, O. (2025) ‘Recursive Language Models’.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arXiv:2512.24601.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411E9-4872-4190-BCE2-7FC82A022711}"/>
              </a:ext>
            </a:extLst>
          </p:cNvPr>
          <p:cNvCxnSpPr>
            <a:cxnSpLocks/>
          </p:cNvCxnSpPr>
          <p:nvPr/>
        </p:nvCxnSpPr>
        <p:spPr>
          <a:xfrm>
            <a:off x="10097451" y="3575832"/>
            <a:ext cx="0" cy="17267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4C917-028B-4D9F-9148-8DFC6520CD1F}"/>
              </a:ext>
            </a:extLst>
          </p:cNvPr>
          <p:cNvCxnSpPr>
            <a:cxnSpLocks/>
          </p:cNvCxnSpPr>
          <p:nvPr/>
        </p:nvCxnSpPr>
        <p:spPr>
          <a:xfrm>
            <a:off x="20469357" y="3591698"/>
            <a:ext cx="0" cy="17251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240336A-E74F-49A9-86DC-8EF5CEE14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125" y="280073"/>
            <a:ext cx="1867161" cy="187668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CC7AA43E-169E-4584-BD61-1564EB886BA4}"/>
              </a:ext>
            </a:extLst>
          </p:cNvPr>
          <p:cNvSpPr txBox="1">
            <a:spLocks/>
          </p:cNvSpPr>
          <p:nvPr/>
        </p:nvSpPr>
        <p:spPr>
          <a:xfrm>
            <a:off x="26197545" y="2250384"/>
            <a:ext cx="3950320" cy="7475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A QR Code link to my video submission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A7CAC0-9E27-AAF7-0C00-EEB3D45A33BD}"/>
              </a:ext>
            </a:extLst>
          </p:cNvPr>
          <p:cNvGrpSpPr/>
          <p:nvPr/>
        </p:nvGrpSpPr>
        <p:grpSpPr>
          <a:xfrm>
            <a:off x="20664023" y="6932905"/>
            <a:ext cx="9302833" cy="2826137"/>
            <a:chOff x="20664023" y="7831819"/>
            <a:chExt cx="9302833" cy="282613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204FDE-6B7C-493E-B33F-71E6F2C28506}"/>
                </a:ext>
              </a:extLst>
            </p:cNvPr>
            <p:cNvSpPr txBox="1"/>
            <p:nvPr/>
          </p:nvSpPr>
          <p:spPr>
            <a:xfrm>
              <a:off x="20664023" y="7831819"/>
              <a:ext cx="12066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/>
                <a:t>Testing</a:t>
              </a: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E7B24A34-D6DD-4B29-ACC3-A1E122AA648B}"/>
                </a:ext>
              </a:extLst>
            </p:cNvPr>
            <p:cNvSpPr txBox="1">
              <a:spLocks/>
            </p:cNvSpPr>
            <p:nvPr/>
          </p:nvSpPr>
          <p:spPr>
            <a:xfrm>
              <a:off x="20664023" y="8364360"/>
              <a:ext cx="9302833" cy="229359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213832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403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Dataset: 60 QA queries (single-hop + multi-hop).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Metrics: Accuracy, Citation correctness, Tokens/Calls, Latency.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Context-rot protocol: increase corpus size and add distractor text; plot metric vs size.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Error analysis: retrieval miss vs wrong cite vs reasoning/synthesis error.</a:t>
              </a:r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07CE8AFB-8188-6D3D-D354-6B3E8D283A16}"/>
              </a:ext>
            </a:extLst>
          </p:cNvPr>
          <p:cNvSpPr txBox="1">
            <a:spLocks/>
          </p:cNvSpPr>
          <p:nvPr/>
        </p:nvSpPr>
        <p:spPr>
          <a:xfrm>
            <a:off x="344457" y="13858984"/>
            <a:ext cx="9598102" cy="63070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Research: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RAG improves grounding by retrieving external evidence, but quality depends on retrieval coverage; multi-hop questions can fail if key evidence is not retrieved (Lewis et al., 2020).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Long-context LMs can degrade on long inputs (e.g., information “lost in the middle”), motivating approaches that avoid single-shot stuffing (Liu et al., 2024).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 Iterative and tool-assisted reading approaches (e.g., </a:t>
            </a:r>
            <a:r>
              <a:rPr lang="en-US" sz="2400" dirty="0" err="1">
                <a:latin typeface="+mn-lt"/>
              </a:rPr>
              <a:t>ReAct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IRCoT</a:t>
            </a:r>
            <a:r>
              <a:rPr lang="en-US" sz="2400" dirty="0">
                <a:latin typeface="+mn-lt"/>
              </a:rPr>
              <a:t>, Self-RAG) suggest that interleaving retrieval and reasoning can improve multi-step QA, but increase cost and complexity.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Recursive reading ideas propose decomposing and re-calling the model over selected parts rather than feeding a massive prompt; practical benefit must be verified with controlled evaluation (Zhang et al., 2025).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1E438-312F-417F-31B8-054B7EEA5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125" y="309147"/>
            <a:ext cx="1867161" cy="18185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30C65F-9C88-AAE2-1540-C417397B2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973" y="12245561"/>
            <a:ext cx="5279266" cy="876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</TotalTime>
  <Words>912</Words>
  <Application>Microsoft Office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 short summary of your research providing key related works;  Be critical. Use appropriate citation. </dc:title>
  <dc:creator>Theo Spyridopoulos</dc:creator>
  <cp:lastModifiedBy>muối méo</cp:lastModifiedBy>
  <cp:revision>9</cp:revision>
  <dcterms:created xsi:type="dcterms:W3CDTF">2017-09-14T11:34:59Z</dcterms:created>
  <dcterms:modified xsi:type="dcterms:W3CDTF">2026-04-20T08:45:09Z</dcterms:modified>
</cp:coreProperties>
</file>